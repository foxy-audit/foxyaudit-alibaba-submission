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A receipt for every AI conversation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0332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6B6B"/>
                </a:solidFill>
                <a:latin typeface="Arial"/>
              </a:rPr>
              <a:t>Your AI keeps working exactly as it does today. We record proof of what happened — without ever seeing what was said.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2377440" cy="1115568"/>
          </a:xfrm>
          <a:prstGeom prst="roundRect">
            <a:avLst>
              <a:gd name="adj" fmla="val 10000"/>
            </a:avLst>
          </a:prstGeom>
          <a:solidFill>
            <a:srgbClr val="FDEEE3"/>
          </a:solidFill>
          <a:ln w="20320">
            <a:solidFill>
              <a:srgbClr val="D260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9224" y="1490472"/>
            <a:ext cx="208483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Your AI app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Where your AI talks to customers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or staff. The only place the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words ever exist.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261872"/>
            <a:ext cx="2880360" cy="1481328"/>
          </a:xfrm>
          <a:prstGeom prst="roundRect">
            <a:avLst>
              <a:gd name="adj" fmla="val 10000"/>
            </a:avLst>
          </a:prstGeom>
          <a:solidFill>
            <a:srgbClr val="1C1917"/>
          </a:solidFill>
          <a:ln w="15875">
            <a:solidFill>
              <a:srgbClr val="1C19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78224" y="1380743"/>
            <a:ext cx="2587752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Foxy Audit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C9C2BC"/>
                </a:solidFill>
                <a:latin typeface="Arial"/>
              </a:rPr>
              <a:t>Runs on Google Cloud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157984"/>
            <a:ext cx="2478024" cy="274320"/>
          </a:xfrm>
          <a:prstGeom prst="roundRect">
            <a:avLst>
              <a:gd name="adj" fmla="val 18000"/>
            </a:avLst>
          </a:prstGeom>
          <a:solidFill>
            <a:srgbClr val="33291F"/>
          </a:solidFill>
          <a:ln w="9525">
            <a:solidFill>
              <a:srgbClr val="332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187952" y="2212848"/>
            <a:ext cx="23682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F0A868"/>
                </a:solidFill>
                <a:latin typeface="Arial"/>
              </a:rPr>
              <a:t>we only get the fingerprint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41648" y="2468880"/>
            <a:ext cx="2660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C9C2BC"/>
                </a:solidFill>
                <a:latin typeface="Arial"/>
              </a:rPr>
              <a:t>We never see what was said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1115568"/>
            <a:ext cx="3291840" cy="1389888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 w="20320">
            <a:solidFill>
              <a:srgbClr val="9488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964424" y="1234440"/>
            <a:ext cx="2999232" cy="11521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Alibaba Cloud Model Studio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Qwen reads each fingerprint and scores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how risky it looks. If it is not sure, it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hands the case to a person — and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remembers what they decided.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2852928"/>
            <a:ext cx="3291840" cy="1051560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 w="20320">
            <a:solidFill>
              <a:srgbClr val="9488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964424" y="2971800"/>
            <a:ext cx="2999232" cy="8138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The record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Every entry is locked to the one before it.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Change one and everything after it breaks.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4224528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3EEE4"/>
          </a:solidFill>
          <a:ln w="20320">
            <a:solidFill>
              <a:srgbClr val="9488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64424" y="4343400"/>
            <a:ext cx="299923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Public proof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A fingerprint of the record is published in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public, so nobody has to trust us.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3584448"/>
            <a:ext cx="2880360" cy="1207008"/>
          </a:xfrm>
          <a:prstGeom prst="roundRect">
            <a:avLst>
              <a:gd name="adj" fmla="val 10000"/>
            </a:avLst>
          </a:prstGeom>
          <a:solidFill>
            <a:srgbClr val="FDEEE3"/>
          </a:solidFill>
          <a:ln w="20320">
            <a:solidFill>
              <a:srgbClr val="D260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078224" y="3703320"/>
            <a:ext cx="2587752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Human review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When the AI will not decide,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a person does.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What they decide is saved</a:t>
            </a:r>
          </a:p>
          <a:p>
            <a:pPr algn="ctr">
              <a:spcBef>
                <a:spcPts val="300"/>
              </a:spcBef>
            </a:pPr>
            <a:r>
              <a:rPr sz="850" b="0" i="1">
                <a:solidFill>
                  <a:srgbClr val="2E7D5B"/>
                </a:solidFill>
                <a:latin typeface="Arial"/>
              </a:rPr>
              <a:t>as proof too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08960"/>
            <a:ext cx="237744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A0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9224" y="3227832"/>
            <a:ext cx="2084832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The report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One document you can hand to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an auditor or a customer.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98848"/>
            <a:ext cx="237744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A0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9224" y="4617720"/>
            <a:ext cx="2084832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Check it yourself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Anyone can re-check the whole record.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One changed letter shows.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31920" y="5230368"/>
            <a:ext cx="2880360" cy="786384"/>
          </a:xfrm>
          <a:prstGeom prst="roundRect">
            <a:avLst>
              <a:gd name="adj" fmla="val 10000"/>
            </a:avLst>
          </a:prstGeom>
          <a:solidFill>
            <a:srgbClr val="FDEEE3"/>
          </a:solidFill>
          <a:ln w="20320">
            <a:solidFill>
              <a:srgbClr val="D260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078224" y="5349240"/>
            <a:ext cx="25877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1A1A"/>
                </a:solidFill>
                <a:latin typeface="Arial"/>
              </a:rPr>
              <a:t>What we use from Alibaba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Model Studio (Qwen) — the AI that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4A4A4A"/>
                </a:solidFill>
                <a:latin typeface="Arial"/>
              </a:rPr>
              <a:t>reviews every record.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18120" y="5230368"/>
            <a:ext cx="329184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A0A0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964424" y="5349240"/>
            <a:ext cx="299923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6B6B6B"/>
                </a:solidFill>
                <a:latin typeface="Arial"/>
              </a:rPr>
              <a:t>Built with Qoder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6B6B6B"/>
                </a:solidFill>
                <a:latin typeface="Arial"/>
              </a:rPr>
              <a:t>used while building — not part of</a:t>
            </a:r>
          </a:p>
          <a:p>
            <a:pPr algn="ctr">
              <a:spcBef>
                <a:spcPts val="300"/>
              </a:spcBef>
            </a:pPr>
            <a:r>
              <a:rPr sz="850" b="0" i="0">
                <a:solidFill>
                  <a:srgbClr val="6B6B6B"/>
                </a:solidFill>
                <a:latin typeface="Arial"/>
              </a:rPr>
              <a:t>how the product runs.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880360" y="1929384"/>
            <a:ext cx="1051560" cy="0"/>
          </a:xfrm>
          <a:prstGeom prst="line">
            <a:avLst/>
          </a:prstGeom>
          <a:ln w="22225">
            <a:solidFill>
              <a:srgbClr val="4A4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798064" y="1645920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a fingerprint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24912" y="2011680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8431A"/>
                </a:solidFill>
                <a:latin typeface="Arial"/>
              </a:rPr>
              <a:t>the words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24912" y="2157984"/>
            <a:ext cx="138988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8431A"/>
                </a:solidFill>
                <a:latin typeface="Arial"/>
              </a:rPr>
              <a:t>never leave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6812280" y="1572768"/>
            <a:ext cx="1005840" cy="118872"/>
          </a:xfrm>
          <a:prstGeom prst="line">
            <a:avLst/>
          </a:prstGeom>
          <a:ln w="22225">
            <a:solidFill>
              <a:srgbClr val="D260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784848" y="135331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A8431A"/>
                </a:solidFill>
                <a:latin typeface="Arial"/>
              </a:rPr>
              <a:t>asks the AI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12280" y="2395728"/>
            <a:ext cx="1005840" cy="667512"/>
          </a:xfrm>
          <a:prstGeom prst="line">
            <a:avLst/>
          </a:prstGeom>
          <a:ln w="19050">
            <a:solidFill>
              <a:srgbClr val="4A4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367528" y="2743200"/>
            <a:ext cx="0" cy="841248"/>
          </a:xfrm>
          <a:prstGeom prst="line">
            <a:avLst/>
          </a:prstGeom>
          <a:ln w="22225">
            <a:solidFill>
              <a:srgbClr val="D2601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566160" y="3072384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A8431A"/>
                </a:solidFill>
                <a:latin typeface="Arial"/>
              </a:rPr>
              <a:t>when it is not sure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464040" y="3904487"/>
            <a:ext cx="0" cy="320041"/>
          </a:xfrm>
          <a:prstGeom prst="line">
            <a:avLst/>
          </a:prstGeom>
          <a:ln w="19050">
            <a:solidFill>
              <a:srgbClr val="4A4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555480" y="395020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Arial"/>
              </a:rPr>
              <a:t>published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2880360" y="2487168"/>
            <a:ext cx="1051560" cy="640080"/>
          </a:xfrm>
          <a:prstGeom prst="line">
            <a:avLst/>
          </a:prstGeom>
          <a:ln w="19050">
            <a:solidFill>
              <a:srgbClr val="4A4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090672" y="2578608"/>
            <a:ext cx="9601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6B6B6B"/>
                </a:solidFill>
                <a:latin typeface="Arial"/>
              </a:rPr>
              <a:t>creates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691640" y="4096512"/>
            <a:ext cx="0" cy="402336"/>
          </a:xfrm>
          <a:prstGeom prst="line">
            <a:avLst/>
          </a:prstGeom>
          <a:ln w="19050">
            <a:solidFill>
              <a:srgbClr val="4A4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783080" y="4169663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Arial"/>
              </a:rPr>
              <a:t>check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30352" y="6309360"/>
            <a:ext cx="548640" cy="0"/>
          </a:xfrm>
          <a:prstGeom prst="line">
            <a:avLst/>
          </a:prstGeom>
          <a:ln w="22225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170432" y="622706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4A4A4A"/>
                </a:solidFill>
                <a:latin typeface="Arial"/>
              </a:rPr>
              <a:t>normal flow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514600" y="6309360"/>
            <a:ext cx="548640" cy="0"/>
          </a:xfrm>
          <a:prstGeom prst="line">
            <a:avLst/>
          </a:prstGeom>
          <a:ln w="22225">
            <a:solidFill>
              <a:srgbClr val="D260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154680" y="622706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4A4A4A"/>
                </a:solidFill>
                <a:latin typeface="Arial"/>
              </a:rPr>
              <a:t>when a person is needed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52160" y="6227064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6B6B6B"/>
                </a:solidFill>
                <a:latin typeface="Arial"/>
              </a:rPr>
              <a:t>Runs on Google Cloud. The AI reasoning comes from Alibaba Cloud Model Studio (Qwen).</a:t>
            </a:r>
          </a:p>
        </p:txBody>
      </p:sp>
      <p:pic>
        <p:nvPicPr>
          <p:cNvPr id="47" name="Picture 46" descr="Logo 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