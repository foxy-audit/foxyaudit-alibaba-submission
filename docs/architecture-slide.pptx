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Arial"/>
              </a:rPr>
              <a:t>Foxy Audit —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Arial"/>
              </a:rPr>
              <a:t>Client capture  →  content-blind backend  →  Alibaba Cloud Qwen reasoning  →  tamper-evident evidence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377440" cy="1115568"/>
          </a:xfrm>
          <a:prstGeom prst="roundRect">
            <a:avLst>
              <a:gd name="adj" fmla="val 10000"/>
            </a:avLst>
          </a:prstGeom>
          <a:solidFill>
            <a:srgbClr val="FDEEE3"/>
          </a:solidFill>
          <a:ln w="20320">
            <a:solidFill>
              <a:srgbClr val="D26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9224" y="1490472"/>
            <a:ext cx="208483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Client Apps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SDK + Desktop App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the only place raw prompt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and response text exists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261872"/>
            <a:ext cx="2880360" cy="1481328"/>
          </a:xfrm>
          <a:prstGeom prst="roundRect">
            <a:avLst>
              <a:gd name="adj" fmla="val 10000"/>
            </a:avLst>
          </a:prstGeom>
          <a:solidFill>
            <a:srgbClr val="1C1917"/>
          </a:solidFill>
          <a:ln w="1587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078224" y="1380743"/>
            <a:ext cx="2587752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Foxy Audit Backend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C9C2BC"/>
                </a:solidFill>
                <a:latin typeface="Arial"/>
              </a:rPr>
              <a:t>Hosted on Google Cloud VM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C9C2BC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2157984"/>
            <a:ext cx="2478024" cy="274320"/>
          </a:xfrm>
          <a:prstGeom prst="roundRect">
            <a:avLst>
              <a:gd name="adj" fmla="val 18000"/>
            </a:avLst>
          </a:prstGeom>
          <a:solidFill>
            <a:srgbClr val="33291F"/>
          </a:solidFill>
          <a:ln w="9525">
            <a:solidFill>
              <a:srgbClr val="332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87952" y="2212848"/>
            <a:ext cx="23682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F0A868"/>
                </a:solidFill>
                <a:latin typeface="Arial"/>
              </a:rPr>
              <a:t>Docker Compose · not Alibaba-hosted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2468880"/>
            <a:ext cx="26609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C9C2BC"/>
                </a:solidFill>
                <a:latin typeface="Arial"/>
              </a:rPr>
              <a:t>receives hashes only — it cannot</a:t>
            </a:r>
          </a:p>
          <a:p>
            <a:pPr algn="ctr"/>
            <a:r>
              <a:rPr sz="800" b="0" i="0">
                <a:solidFill>
                  <a:srgbClr val="C9C2BC"/>
                </a:solidFill>
                <a:latin typeface="Arial"/>
              </a:rPr>
              <a:t>reconstruct what was said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115568"/>
            <a:ext cx="3291840" cy="1389888"/>
          </a:xfrm>
          <a:prstGeom prst="roundRect">
            <a:avLst>
              <a:gd name="adj" fmla="val 10000"/>
            </a:avLst>
          </a:prstGeom>
          <a:solidFill>
            <a:srgbClr val="F3EEE4"/>
          </a:solidFill>
          <a:ln w="20320">
            <a:solidFill>
              <a:srgbClr val="9488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64424" y="1234440"/>
            <a:ext cx="2999232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Alibaba Cloud Model Studio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A8431A"/>
                </a:solidFill>
                <a:latin typeface="Arial"/>
              </a:rPr>
              <a:t>Qwen · qwen-plus · DashScope API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the agentic judge: risk scoring,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flag_for_human_review(),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check_prior_reviews()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852928"/>
            <a:ext cx="3291840" cy="1051560"/>
          </a:xfrm>
          <a:prstGeom prst="roundRect">
            <a:avLst>
              <a:gd name="adj" fmla="val 10000"/>
            </a:avLst>
          </a:prstGeom>
          <a:solidFill>
            <a:srgbClr val="F3EEE4"/>
          </a:solidFill>
          <a:ln w="20320">
            <a:solidFill>
              <a:srgbClr val="9488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964424" y="2971800"/>
            <a:ext cx="2999232" cy="813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Hash-Chain Store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PostgreSQL · per-org · row-level security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sequential SHA-256, append-only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224528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3EEE4"/>
          </a:solidFill>
          <a:ln w="20320">
            <a:solidFill>
              <a:srgbClr val="9488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64424" y="4343400"/>
            <a:ext cx="2999232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Public Blockchain Anchor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periodic fingerprint publication — EVM / Sepolia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verifiable independently of Foxy Audit servers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3584448"/>
            <a:ext cx="2880360" cy="1207008"/>
          </a:xfrm>
          <a:prstGeom prst="roundRect">
            <a:avLst>
              <a:gd name="adj" fmla="val 10000"/>
            </a:avLst>
          </a:prstGeom>
          <a:solidFill>
            <a:srgbClr val="FDEEE3"/>
          </a:solidFill>
          <a:ln w="20320">
            <a:solidFill>
              <a:srgbClr val="D26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078224" y="3703320"/>
            <a:ext cx="2587752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Review Dashboard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human-in-the-loop escalation queue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a person rules when the agent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declines to decide</a:t>
            </a:r>
          </a:p>
          <a:p>
            <a:pPr algn="ctr">
              <a:spcBef>
                <a:spcPts val="300"/>
              </a:spcBef>
            </a:pPr>
            <a:r>
              <a:rPr sz="850" b="0" i="1">
                <a:solidFill>
                  <a:srgbClr val="2E7D5B"/>
                </a:solidFill>
                <a:latin typeface="Arial"/>
              </a:rPr>
              <a:t>the ruling becomes evidence too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08960"/>
            <a:ext cx="237744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9224" y="3227832"/>
            <a:ext cx="2084832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Compliance Passport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exportable, verifiable document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for auditors and customers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98848"/>
            <a:ext cx="237744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9224" y="4617720"/>
            <a:ext cx="2084832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Independent Verifier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dependency-free script — anyone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recomputes the chain and detects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a single altered byte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5230368"/>
            <a:ext cx="2880360" cy="786384"/>
          </a:xfrm>
          <a:prstGeom prst="roundRect">
            <a:avLst>
              <a:gd name="adj" fmla="val 10000"/>
            </a:avLst>
          </a:prstGeom>
          <a:solidFill>
            <a:srgbClr val="FDEEE3"/>
          </a:solidFill>
          <a:ln w="20320">
            <a:solidFill>
              <a:srgbClr val="D26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078224" y="5349240"/>
            <a:ext cx="25877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Alibaba Cloud services used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Model Studio (DashScope) API — the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4A4A4A"/>
                </a:solidFill>
                <a:latin typeface="Arial"/>
              </a:rPr>
              <a:t>only Alibaba service in the runtime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5230368"/>
            <a:ext cx="329184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0A0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964424" y="5349240"/>
            <a:ext cx="2999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  <a:latin typeface="Arial"/>
              </a:rPr>
              <a:t>Built with Qoder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6B6B6B"/>
                </a:solidFill>
                <a:latin typeface="Arial"/>
              </a:rPr>
              <a:t>dev-time only — not part of the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6B6B6B"/>
                </a:solidFill>
                <a:latin typeface="Arial"/>
              </a:rPr>
              <a:t>runtime architecture above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80360" y="1929384"/>
            <a:ext cx="1051560" cy="0"/>
          </a:xfrm>
          <a:prstGeom prst="line">
            <a:avLst/>
          </a:prstGeom>
          <a:ln w="22225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98064" y="1609344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interaction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98064" y="175564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metadata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06624" y="2011680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A8431A"/>
                </a:solidFill>
                <a:latin typeface="Arial"/>
              </a:rPr>
              <a:t>raw text never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6624" y="215798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A8431A"/>
                </a:solidFill>
                <a:latin typeface="Arial"/>
              </a:rPr>
              <a:t>crosses here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812280" y="1572768"/>
            <a:ext cx="1005840" cy="118872"/>
          </a:xfrm>
          <a:prstGeom prst="line">
            <a:avLst/>
          </a:prstGeom>
          <a:ln w="22225">
            <a:solidFill>
              <a:srgbClr val="D260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784848" y="13350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A8431A"/>
                </a:solidFill>
                <a:latin typeface="Arial"/>
              </a:rPr>
              <a:t>ask agent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12280" y="2395728"/>
            <a:ext cx="1005840" cy="667512"/>
          </a:xfrm>
          <a:prstGeom prst="line">
            <a:avLst/>
          </a:prstGeom>
          <a:ln w="19050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21424" y="219456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append record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367528" y="2743200"/>
            <a:ext cx="0" cy="841248"/>
          </a:xfrm>
          <a:prstGeom prst="line">
            <a:avLst/>
          </a:prstGeom>
          <a:ln w="22225">
            <a:solidFill>
              <a:srgbClr val="D260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611880" y="3054096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8431A"/>
                </a:solidFill>
                <a:latin typeface="Arial"/>
              </a:rPr>
              <a:t>escalate when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3200400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8431A"/>
                </a:solidFill>
                <a:latin typeface="Arial"/>
              </a:rPr>
              <a:t>unresolved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6812280" y="2542032"/>
            <a:ext cx="1069847" cy="1371600"/>
          </a:xfrm>
          <a:prstGeom prst="line">
            <a:avLst/>
          </a:prstGeom>
          <a:ln w="19050">
            <a:solidFill>
              <a:srgbClr val="D2601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09360" y="321868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A8431A"/>
                </a:solidFill>
                <a:latin typeface="Arial"/>
              </a:rPr>
              <a:t>agent later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36499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A8431A"/>
                </a:solidFill>
                <a:latin typeface="Arial"/>
              </a:rPr>
              <a:t>cites ruling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464040" y="3904487"/>
            <a:ext cx="0" cy="320041"/>
          </a:xfrm>
          <a:prstGeom prst="line">
            <a:avLst/>
          </a:prstGeom>
          <a:ln w="19050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555480" y="395020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Arial"/>
              </a:rPr>
              <a:t>periodic anchor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2880360" y="2487168"/>
            <a:ext cx="1051560" cy="640080"/>
          </a:xfrm>
          <a:prstGeom prst="line">
            <a:avLst/>
          </a:prstGeom>
          <a:ln w="19050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108960" y="254203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export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691640" y="4096512"/>
            <a:ext cx="0" cy="402336"/>
          </a:xfrm>
          <a:prstGeom prst="line">
            <a:avLst/>
          </a:prstGeom>
          <a:ln w="19050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783080" y="4169663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Arial"/>
              </a:rPr>
              <a:t>verify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30352" y="6053328"/>
            <a:ext cx="548640" cy="0"/>
          </a:xfrm>
          <a:prstGeom prst="line">
            <a:avLst/>
          </a:prstGeom>
          <a:ln w="22225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170432" y="59710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  <a:latin typeface="Arial"/>
              </a:rPr>
              <a:t>data flow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240280" y="6053328"/>
            <a:ext cx="548640" cy="0"/>
          </a:xfrm>
          <a:prstGeom prst="line">
            <a:avLst/>
          </a:prstGeom>
          <a:ln w="22225">
            <a:solidFill>
              <a:srgbClr val="D260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880360" y="5971032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  <a:latin typeface="Arial"/>
              </a:rPr>
              <a:t>agent / escalation 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327648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Arial"/>
              </a:rPr>
              <a:t>Hosting is Google Cloud, not Alibaba Cloud. The Alibaba Cloud service this project uses is Model Studio (DashScope), which powers the agentic judge above.</a:t>
            </a:r>
          </a:p>
          <a:p>
            <a:pPr>
              <a:spcBef>
                <a:spcPts val="200"/>
              </a:spcBef>
            </a:pPr>
            <a:r>
              <a:rPr sz="800" b="0" i="0">
                <a:solidFill>
                  <a:srgbClr val="6B6B6B"/>
                </a:solidFill>
                <a:latin typeface="Arial"/>
              </a:rPr>
              <a:t>Gemini and GPT-5.6 are supported as alternative judges and are unkeyed on this deployment, so every live verdict comes from Qwen.</a:t>
            </a:r>
          </a:p>
        </p:txBody>
      </p:sp>
      <p:pic>
        <p:nvPicPr>
          <p:cNvPr id="53" name="Picture 52" descr="Logo 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